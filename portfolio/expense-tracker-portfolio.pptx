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4D399"/>
                </a:solidFill>
                <a:latin typeface="Malgun Gothic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Malgun Gothic"/>
              </a:rPr>
              <a:t>연간 지출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8F6F1"/>
                </a:solidFill>
                <a:latin typeface="Malgun Gothic"/>
              </a:rPr>
              <a:t>개인 지출 기록 &amp; 관리자 통계 대시보드 웹 서비스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43400"/>
            <a:ext cx="758952" cy="329184"/>
          </a:xfrm>
          <a:prstGeom prst="roundRect">
            <a:avLst/>
          </a:prstGeom>
          <a:solidFill>
            <a:srgbClr val="E34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HTML5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0512" y="4343400"/>
            <a:ext cx="658368" cy="329184"/>
          </a:xfrm>
          <a:prstGeom prst="roundRect">
            <a:avLst/>
          </a:prstGeom>
          <a:solidFill>
            <a:srgbClr val="15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CSS3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4343400"/>
            <a:ext cx="1261872" cy="329184"/>
          </a:xfrm>
          <a:prstGeom prst="roundRect">
            <a:avLst/>
          </a:prstGeom>
          <a:solidFill>
            <a:srgbClr val="8A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4343400"/>
            <a:ext cx="1060704" cy="329184"/>
          </a:xfrm>
          <a:prstGeom prst="roundRect">
            <a:avLst/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4343400"/>
            <a:ext cx="1261872" cy="329184"/>
          </a:xfrm>
          <a:prstGeom prst="roundRect">
            <a:avLst/>
          </a:prstGeom>
          <a:solidFill>
            <a:srgbClr val="2F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DD4BF"/>
                </a:solidFill>
                <a:latin typeface="Malgun Gothic"/>
              </a:rPr>
              <a:t>Vanilla JS · HTML/CSS  →  Supabase (PostgreSQL)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실제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고객 대시보드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103120"/>
            <a:ext cx="2743200" cy="1828800"/>
          </a:xfrm>
          <a:prstGeom prst="rect">
            <a:avLst/>
          </a:prstGeom>
          <a:ln w="12700">
            <a:solidFill>
              <a:srgbClr val="DCE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7920" y="182880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지출 내역 (페이지네이션)</a:t>
            </a:r>
          </a:p>
        </p:txBody>
      </p:sp>
      <p:pic>
        <p:nvPicPr>
          <p:cNvPr id="9" name="Picture 8" descr="expen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093" y="2103120"/>
            <a:ext cx="2400612" cy="1828800"/>
          </a:xfrm>
          <a:prstGeom prst="rect">
            <a:avLst/>
          </a:prstGeom>
          <a:ln w="12700">
            <a:solidFill>
              <a:srgbClr val="DCEEE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411480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통계</a:t>
            </a:r>
          </a:p>
        </p:txBody>
      </p:sp>
      <p:pic>
        <p:nvPicPr>
          <p:cNvPr id="11" name="Picture 10" descr="sta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4389120"/>
            <a:ext cx="2743200" cy="1828800"/>
          </a:xfrm>
          <a:prstGeom prst="rect">
            <a:avLst/>
          </a:prstGeom>
          <a:ln w="12700">
            <a:solidFill>
              <a:srgbClr val="DCEEE7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17920" y="411480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관리자 대시보드</a:t>
            </a:r>
          </a:p>
        </p:txBody>
      </p:sp>
      <p:pic>
        <p:nvPicPr>
          <p:cNvPr id="13" name="Picture 12" descr="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389120"/>
            <a:ext cx="2743200" cy="1828800"/>
          </a:xfrm>
          <a:prstGeom prst="rect">
            <a:avLst/>
          </a:prstGeom>
          <a:ln w="12700">
            <a:solidFill>
              <a:srgbClr val="DCEEE7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4B6259"/>
                </a:solidFill>
                <a:latin typeface="Malgun Gothic"/>
              </a:rPr>
              <a:t>개인의 지출을 손쉽게 기록하고, 카테고리별·기간별 통계로 소비 패턴을 파악할 수 있는 지출 관리 서비스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352044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Malgun Gothic"/>
              </a:rPr>
              <a:t>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971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6259"/>
                </a:solidFill>
                <a:latin typeface="Malgun Gothic"/>
              </a:rPr>
              <a:t>지출을 기록해도 흩어진 데이터라 카테고리별·월별 흐름을 한눈에 파악하기 어려움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8346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834640"/>
            <a:ext cx="352044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2004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Malgun Gothic"/>
              </a:rPr>
              <a:t>핵심 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03320"/>
            <a:ext cx="2971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6259"/>
                </a:solidFill>
                <a:latin typeface="Malgun Gothic"/>
              </a:rPr>
              <a:t>간편한 등록 흐름 + 시각적 통계(도넛/막대 차트)로 소비 패턴을 즉시 인지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8346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834640"/>
            <a:ext cx="352044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Malgun Gothic"/>
              </a:rPr>
              <a:t>두 가지 역할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03320"/>
            <a:ext cx="2971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6259"/>
                </a:solidFill>
                <a:latin typeface="Malgun Gothic"/>
              </a:rPr>
              <a:t>고객은 본인 지출을 기록·조회, 관리자는 회원과 전체 서비스 통계를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FEATURES ·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핵심 기능 — 고객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1F2E2A"/>
                </a:solidFill>
                <a:latin typeface="Malgun Gothic"/>
              </a:rPr>
              <a:t>•  회원가입 / 로그인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8880"/>
                </a:solidFill>
                <a:latin typeface="Malgun Gothic"/>
              </a:rPr>
              <a:t>     이메일·비밀번호 기반, 가입 즉시 자동 로그인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1F2E2A"/>
                </a:solidFill>
                <a:latin typeface="Malgun Gothic"/>
              </a:rPr>
              <a:t>•  지출 CRUD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8880"/>
                </a:solidFill>
                <a:latin typeface="Malgun Gothic"/>
              </a:rPr>
              <a:t>     등록·조회·수정·삭제 — 기간·카테고리 필터 및 메모 검색 지원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1F2E2A"/>
                </a:solidFill>
                <a:latin typeface="Malgun Gothic"/>
              </a:rPr>
              <a:t>•  페이지네이션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8880"/>
                </a:solidFill>
                <a:latin typeface="Malgun Gothic"/>
              </a:rPr>
              <a:t>     지출 내역이 쌓여도 페이지당 10건씩 표시, 필터 변경 시 1페이지로 자동 리셋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1F2E2A"/>
                </a:solidFill>
                <a:latin typeface="Malgun Gothic"/>
              </a:rPr>
              <a:t>•  개인 통계 대시보드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8880"/>
                </a:solidFill>
                <a:latin typeface="Malgun Gothic"/>
              </a:rPr>
              <a:t>     월별/연별 합계, 카테고리 비중을 도넛·막대 차트 토글로 시각화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1F2E2A"/>
                </a:solidFill>
                <a:latin typeface="Malgun Gothic"/>
              </a:rPr>
              <a:t>•  고정 카테고리 8종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8880"/>
                </a:solidFill>
                <a:latin typeface="Malgun Gothic"/>
              </a:rPr>
              <a:t>     식비·교통·주거·문화/여가·쇼핑·의료·교육·기타 — 모든 사용자 공용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1F2E2A"/>
                </a:solidFill>
                <a:latin typeface="Malgun Gothic"/>
              </a:rPr>
              <a:t>•  게시판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8880"/>
                </a:solidFill>
                <a:latin typeface="Malgun Gothic"/>
              </a:rPr>
              <a:t>     절약 팁을 자유롭게 작성·검색하고 댓글로 소통, 본인 글/댓글만 삭제 가능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55520"/>
            <a:ext cx="5029200" cy="3352800"/>
          </a:xfrm>
          <a:prstGeom prst="rect">
            <a:avLst/>
          </a:prstGeom>
          <a:ln w="12700">
            <a:solidFill>
              <a:srgbClr val="DCE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3A34"/>
                </a:solidFill>
                <a:latin typeface="Malgun Gothic"/>
              </a:rPr>
              <a:t>FEATURES ·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핵심 기능 — 관리자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고정 계정 로그인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회원가입 없이 지정된 관리자 계정으로만 접근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전체 통계 대시보드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전체 회원 수 · 총 지출액 · 이번 달 지출 · 인기 카테고리 TOP 5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회원 관리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이름/이메일 검색, 계정 정지·해제, 상세 화면에서 최근 지출 5건 확인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게시판 관리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게시글 검색, 부적절한 글 삭제 (모더레이션)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역할 분리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관리자는 지출 데이터를 직접 등록하지 않고 조회·관리만 수행</a:t>
            </a:r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55520"/>
            <a:ext cx="5029200" cy="3352800"/>
          </a:xfrm>
          <a:prstGeom prst="rect">
            <a:avLst/>
          </a:prstGeom>
          <a:ln w="12700">
            <a:solidFill>
              <a:srgbClr val="DCE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설계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874519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92807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47087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Malgun Gothic"/>
              </a:rPr>
              <a:t>코로케이션 (Colocation)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58567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6259"/>
                </a:solidFill>
                <a:latin typeface="Malgun Gothic"/>
              </a:rPr>
              <a:t>각 페이지의 HTML·CSS·JS를 같은 디렉토리에 평탄하게 배치 — "이 기능을 고치려면 어느 폴더를 보면 되는가?"에 즉시 답할 수 있는 구조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0087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08375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62655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Malgun Gothic"/>
              </a:rPr>
              <a:t>역할별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74135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6259"/>
                </a:solidFill>
                <a:latin typeface="Malgun Gothic"/>
              </a:rPr>
              <a:t>고객은 루트(/, /auth, /expenses, /stats), 관리자는 /admin 하위로 완전히 분리하되 동일한 데이터 계층(js/utils.js)을 공유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05655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23943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78223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Malgun Gothic"/>
              </a:rPr>
              <a:t>클린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89703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6259"/>
                </a:solidFill>
                <a:latin typeface="Malgun Gothic"/>
              </a:rPr>
              <a:t>list / create / edit / index 등 목적이 드러나는 명확한 경로 설계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221223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9511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93791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Malgun Gothic"/>
              </a:rPr>
              <a:t>고정 공통 데이터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605271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6259"/>
                </a:solidFill>
                <a:latin typeface="Malgun Gothic"/>
              </a:rPr>
              <a:t>카테고리는 CRUD 대상이 아닌 고정 참조 데이터로 취급해 데이터 일관성 보장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데이터 모델 (ERD)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94" y="1600200"/>
            <a:ext cx="3855971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TECH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localStorage → Supabase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4937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E8880"/>
                </a:solidFill>
                <a:latin typeface="Malgun Gothic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F2E2A"/>
                </a:solidFill>
                <a:latin typeface="Malgun Gothic"/>
              </a:rPr>
              <a:t>정적 사이트 + localStorage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백엔드 서버 없이 브라우저에 데이터 저장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비밀번호까지 평문으로 저장 (데모 목적)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브라우저·기기 간 데이터 공유 불가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011680"/>
            <a:ext cx="4937760" cy="3291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240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algun Gothic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060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Supabase (PostgreSQL)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1546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E8F6F1"/>
                </a:solidFill>
                <a:latin typeface="Malgun Gothic"/>
              </a:rPr>
              <a:t>•  Supabase Auth로 인증 위임 (평문 비밀번호 제거)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E8F6F1"/>
                </a:solidFill>
                <a:latin typeface="Malgun Gothic"/>
              </a:rPr>
              <a:t>•  profiles / categories / expenses 3개 테이블 설계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E8F6F1"/>
                </a:solidFill>
                <a:latin typeface="Malgun Gothic"/>
              </a:rPr>
              <a:t>•  Row Level Security로 행 단위 접근 제어</a:t>
            </a:r>
          </a:p>
        </p:txBody>
      </p:sp>
      <p:sp>
        <p:nvSpPr>
          <p:cNvPr id="14" name="Chevron 13"/>
          <p:cNvSpPr/>
          <p:nvPr/>
        </p:nvSpPr>
        <p:spPr>
          <a:xfrm>
            <a:off x="5715000" y="3291840"/>
            <a:ext cx="731520" cy="548640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보안 &amp; 데이터 무결성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Row Level Security (RLS)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고객은 본인 소유 데이터(profiles/expenses)만 조회·수정 가능, 관리자는 role 기반으로 전체 접근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재귀 없는 관리자 판별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profiles.role을 정책 안에서 직접 조회하면 무한 재귀가 발생 → SECURITY DEFINER 함수(is_admin())로 우회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최소 권한 원칙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Supabase Advisor로 내부 함수의 불필요한 RPC 노출을 점검 → anon/authenticated의 불필요한 EXECUTE 권한 회수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>
                <a:solidFill>
                  <a:srgbClr val="1F2E2A"/>
                </a:solidFill>
                <a:latin typeface="Malgun Gothic"/>
              </a:rPr>
              <a:t>•  인증 위임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E8880"/>
                </a:solidFill>
                <a:latin typeface="Malgun Gothic"/>
              </a:rPr>
              <a:t>     비밀번호 저장·검증을 직접 구현하지 않고 Supabase Auth에 위임해 자체 구현 리스크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협업 워크플로우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377440" cy="82296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243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feat/shared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2651760"/>
            <a:ext cx="274320" cy="27432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2377440"/>
            <a:ext cx="2377440" cy="82296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6243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feat/auth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3600" y="2651760"/>
            <a:ext cx="274320" cy="27432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377440" cy="82296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243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feat/core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41080" y="2651760"/>
            <a:ext cx="274320" cy="27432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15400" y="2377440"/>
            <a:ext cx="2377440" cy="822960"/>
          </a:xfrm>
          <a:prstGeom prst="round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6243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1F2E2A"/>
                </a:solidFill>
                <a:latin typeface="Malgun Gothic"/>
              </a:rPr>
              <a:t>•  PR 기반 병합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8880"/>
                </a:solidFill>
                <a:latin typeface="Malgun Gothic"/>
              </a:rPr>
              <a:t>     공통 자원 → 인증 → 핵심 기능 순으로 브랜치를 나눠 작업 후 Pull Request로 main에 병합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1F2E2A"/>
                </a:solidFill>
                <a:latin typeface="Malgun Gothic"/>
              </a:rPr>
              <a:t>•  병합 후 브랜치 정리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6E8880"/>
                </a:solidFill>
                <a:latin typeface="Malgun Gothic"/>
              </a:rPr>
              <a:t>     머지가 끝난 feat/* 브랜치와 사용하지 않는 master 브랜치를 삭제해 원격 저장소를 깔끔하게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Malgun Gothic"/>
              </a:rPr>
              <a:t>RETROSPECTIVE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2E2A"/>
                </a:solidFill>
                <a:latin typeface="Malgun Gothic"/>
              </a:rPr>
              <a:t>회고 &amp;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972800" cy="25400"/>
          </a:xfrm>
          <a:prstGeom prst="rect">
            <a:avLst/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Malgun Gothic"/>
              </a:rPr>
              <a:t>배운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정적 데모(localStorage)에서 실제 백엔드(Supabase)로 옮기며 인증·보안을 다시 설계하는 경험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RLS 정책의 재귀 문제를 SECURITY DEFINER 함수 패턴으로 해결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Security Advisor로 보이지 않는 권한 노출까지 점검하는 습관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766E"/>
                </a:solidFill>
                <a:latin typeface="Malgun Gothic"/>
              </a:rPr>
              <a:t>다음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관리자 계정도 Supabase Auth 기반으로 전환 검토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프론트엔드(js/utils.js)를 Supabase 클라이언트 호출로 교체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1F2E2A"/>
                </a:solidFill>
                <a:latin typeface="Malgun Gothic"/>
              </a:rPr>
              <a:t>•  관리자 페이지에 실시간 통계·알림 기능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EXPENSE TRACKER ·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8880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A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D4BF"/>
                </a:solidFill>
                <a:latin typeface="Malgun Gothic"/>
              </a:rPr>
              <a:t>연간 지출 관리 · expense-tracker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6F1"/>
                </a:solidFill>
                <a:latin typeface="Malgun Gothic"/>
              </a:rPr>
              <a:t>github.com/DavidLee534/expense-tracker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